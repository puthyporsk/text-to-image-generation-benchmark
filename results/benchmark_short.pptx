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667" autoAdjust="0"/>
  </p:normalViewPr>
  <p:slideViewPr>
    <p:cSldViewPr snapToGrid="0" snapToObjects="1">
      <p:cViewPr varScale="1">
        <p:scale>
          <a:sx n="115" d="100"/>
          <a:sy n="115" d="100"/>
        </p:scale>
        <p:origin x="201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99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 am benchmarking two Text-to-Image, or T2I, image generation models: Google's Imagen 4 and OpenAI’s GPT-Image-1 Mini. The goal is a fair, apples-to-apples comparison on compositional visual reasoning — same prompts,</a:t>
            </a:r>
          </a:p>
          <a:p>
            <a:r>
              <a:rPr lang="en-US" dirty="0"/>
              <a:t>  same resolution, same sampling — to find out which model better satisfies humans and automated metrics.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 built three things. </a:t>
            </a:r>
          </a:p>
          <a:p>
            <a:r>
              <a:rPr lang="en-US" dirty="0"/>
              <a:t>First, a generation pipeline that produced 480 images — 40 prompts, 3 samples each, across both models.</a:t>
            </a:r>
          </a:p>
          <a:p>
            <a:r>
              <a:rPr lang="en-US" dirty="0"/>
              <a:t>Second, a prompt suite covering four compositional categories: attribute binding, object counting, spatial relationships, and typography.</a:t>
            </a:r>
          </a:p>
          <a:p>
            <a:r>
              <a:rPr lang="en-US" dirty="0"/>
              <a:t>Third, an evaluation suite with three signals: human pairwise rankings collected through a blind </a:t>
            </a:r>
            <a:r>
              <a:rPr lang="en-US" dirty="0" err="1"/>
              <a:t>Streamlit</a:t>
            </a:r>
            <a:r>
              <a:rPr lang="en-US" dirty="0"/>
              <a:t> UI, a Vision-Language Model, or VLM, faithfulness judge using Qwen2-VL-2B, and Optical Character Recognition, or OCR, via Tesseract for typography.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headline finding: these models are often indistinguishable — roughly a third of comparisons end in a tie. Where they do differ, it's category-specific.</a:t>
            </a:r>
          </a:p>
          <a:p>
            <a:r>
              <a:rPr lang="en-US" dirty="0"/>
              <a:t>Imagen 4 clearly wins on typography, confirmed by both human votes and OCR scores.</a:t>
            </a:r>
          </a:p>
          <a:p>
            <a:r>
              <a:rPr lang="en-US" dirty="0"/>
              <a:t>GPT-Image-1 Mini leads on spatial and counting tasks. The VLM judge however produced near-identical scores for every image — essentially no signal.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Three lessons.</a:t>
            </a:r>
          </a:p>
          <a:p>
            <a:r>
              <a:rPr lang="en-US" dirty="0"/>
              <a:t>Harder than expected: the VLM judge hit a ceiling effect at 2 billion parameters — it couldn’t differentiate between images at this scale.</a:t>
            </a:r>
          </a:p>
          <a:p>
            <a:r>
              <a:rPr lang="en-US" dirty="0"/>
              <a:t>Easier than expected: human annotation — the blind pairwise UI with Google Sheets sync worked immediately with no friction.</a:t>
            </a:r>
          </a:p>
          <a:p>
            <a:r>
              <a:rPr lang="en-US" dirty="0"/>
              <a:t>Most surprising: the models are far more similar overall than I anticipated.</a:t>
            </a:r>
          </a:p>
          <a:p>
            <a:r>
              <a:rPr lang="en-US" dirty="0"/>
              <a:t>The interesting differences only appear when you break down by category.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Three things remain.</a:t>
            </a:r>
          </a:p>
          <a:p>
            <a:r>
              <a:rPr lang="en-US" dirty="0"/>
              <a:t>First, more annotators — we currently have one, and we need several for inter-rater reliability.</a:t>
            </a:r>
          </a:p>
          <a:p>
            <a:r>
              <a:rPr lang="en-US" dirty="0"/>
              <a:t>Second, upgrade the VLM judge from 2B to a 7B-plus model to get usable faithfulness scores.</a:t>
            </a:r>
          </a:p>
          <a:p>
            <a:r>
              <a:rPr lang="en-US" dirty="0"/>
              <a:t>Third, expand the prompt suite into harder categories. The pipeline is already built — this is about scale, not new infrastructure.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848AC-3408-79C2-A0A2-6E19FDAD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1DF93-DA66-F959-C64F-3D9EF454C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0D3E4-096A-8619-71CE-A36EE1460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2BE01-5CC2-D753-1836-DBC80955D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161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Text-to-Image Generation 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FF"/>
                </a:solidFill>
                <a:latin typeface="Calibri"/>
              </a:rPr>
              <a:t>Progress Presentation  • 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057400"/>
            <a:ext cx="3291840" cy="5303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2153299"/>
            <a:ext cx="3291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Imagen 4  (Gemini 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122521"/>
            <a:ext cx="8229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057400"/>
            <a:ext cx="3291840" cy="530352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53299"/>
            <a:ext cx="32918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GPT-Image-1 Mini  (OpenAI 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16352"/>
            <a:ext cx="11064240" cy="1905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9443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BBFF"/>
                </a:solidFill>
                <a:latin typeface="Calibri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0128"/>
            <a:ext cx="36576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</a:rPr>
              <a:t>Comparison of Text-2-Image (T2I) image generation models under identical prompts, resolution, and sampling.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443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BBFF"/>
                </a:solidFill>
                <a:latin typeface="Calibri"/>
              </a:rPr>
              <a:t>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310128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Which model better satisfies humans and automated metrics on compositional tasks?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443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BBFF"/>
                </a:solidFill>
                <a:latin typeface="Calibri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310128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40 structured prompts  •  4 visual reasoning categories  •  3 samples 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6539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AA"/>
                </a:solidFill>
                <a:latin typeface="Calibri"/>
              </a:rPr>
              <a:t>Model sources: Imagen 4 Model Card (Google DeepMind, 2025)  •  OpenAI API Model Docs (OpenAI, 2024)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9B0CD-54AD-00A3-739E-3461FCDFBD44}"/>
              </a:ext>
            </a:extLst>
          </p:cNvPr>
          <p:cNvSpPr txBox="1"/>
          <p:nvPr/>
        </p:nvSpPr>
        <p:spPr>
          <a:xfrm>
            <a:off x="2286000" y="110285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/>
              </a:rPr>
              <a:t>Puthypor Sengkeo – CMPT722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F41A12-DCFE-C366-BD53-850BB9E0DFED}"/>
              </a:ext>
            </a:extLst>
          </p:cNvPr>
          <p:cNvSpPr txBox="1"/>
          <p:nvPr/>
        </p:nvSpPr>
        <p:spPr>
          <a:xfrm>
            <a:off x="6583680" y="1110757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  <a:latin typeface="Calibri"/>
              </a:rPr>
              <a:t>Prof: Manolis Savva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Progress: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FF"/>
                </a:solidFill>
                <a:latin typeface="Calibri"/>
              </a:rPr>
              <a:t>Generation pipeline  •  Prompt suite  •  Three evaluation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201168" cy="16642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11556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Calibri"/>
              </a:rPr>
              <a:t>Generation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207008"/>
            <a:ext cx="3200400" cy="320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228528"/>
            <a:ext cx="3200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480 images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91056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40 prompts × 3 samples × 2 models, automated via API with résumé support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Images saved at 1024 × 1024 px; organised by run, provider, and prompt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852928"/>
            <a:ext cx="201168" cy="166420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285292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9077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Calibri"/>
              </a:rPr>
              <a:t>Prompt Suite  (T2I Evaluation)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944368"/>
            <a:ext cx="3200400" cy="3200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2965888"/>
            <a:ext cx="3200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 categories  |  40 prompts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28416"/>
            <a:ext cx="1152144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 Attribute binding, object counting, spatial relationships, and typography</a:t>
            </a:r>
          </a:p>
          <a:p>
            <a:pPr algn="l"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 Per-prompt: text prompt, binary checklist, and</a:t>
            </a:r>
            <a:r>
              <a:rPr lang="en-US" sz="1400" dirty="0">
                <a:solidFill>
                  <a:srgbClr val="1A1A2E"/>
                </a:solidFill>
                <a:latin typeface="Calibri"/>
              </a:rPr>
              <a:t> OCR </a:t>
            </a:r>
            <a:r>
              <a:rPr sz="1400" dirty="0">
                <a:solidFill>
                  <a:srgbClr val="1A1A2E"/>
                </a:solidFill>
                <a:latin typeface="Calibri"/>
              </a:rPr>
              <a:t>target strings for typography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90288"/>
            <a:ext cx="201168" cy="166420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1168" y="459028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46451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Calibri"/>
              </a:rPr>
              <a:t>Evaluation Suite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681728"/>
            <a:ext cx="3200400" cy="32004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4703248"/>
            <a:ext cx="3200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120 human votes collected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065776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 Human pairwise ranking: blind side-by-side UI (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Streamlit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+ Google Sheets sync)</a:t>
            </a:r>
          </a:p>
          <a:p>
            <a:pPr algn="l"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 Vision-Language Model (VLM) faithfulness judge: Qwen2-VL-2B, YES/NO per check</a:t>
            </a:r>
          </a:p>
          <a:p>
            <a:pPr algn="l">
              <a:spcAft>
                <a:spcPts val="200"/>
              </a:spcAft>
            </a:pPr>
            <a:r>
              <a:rPr sz="1400" dirty="0">
                <a:solidFill>
                  <a:srgbClr val="1A1A2E"/>
                </a:solidFill>
                <a:latin typeface="Calibri"/>
              </a:rPr>
              <a:t>  •  Optical Character Recognition (OCR): Tesseract + fuzzy match for typography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  <a:latin typeface="Calibri"/>
              </a:rPr>
              <a:t>Categories informed by DrawBench (Saharia et al., 2022) and T2I-CompBench (Huang et al., 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Progress: Results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FF"/>
                </a:solidFill>
                <a:latin typeface="Calibri"/>
              </a:rPr>
              <a:t>120 human votes  •  40 prompts  •  4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914400"/>
          </a:xfrm>
          <a:prstGeom prst="rect">
            <a:avLst/>
          </a:prstGeom>
          <a:solidFill>
            <a:srgbClr val="E8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6BC0"/>
                </a:solidFill>
                <a:latin typeface="Calibri"/>
              </a:rPr>
              <a:t>Overall: high parity between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44752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2E"/>
                </a:solidFill>
                <a:latin typeface="Calibri"/>
              </a:rPr>
              <a:t>31% of comparisons end in a tie   |   Decisive: Imagen 4  55%  vs  GPT-Image-1 Mini  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8483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Category breakdown  —  human decisive votes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1152144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137160" cy="7315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Typography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587752"/>
            <a:ext cx="2743200" cy="274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2587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Imagen 4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8775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Imagen 4 70% decisive   |   OCR avg: Imagen 4 67.5%  vs  GPT 50.8%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1152144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291840"/>
            <a:ext cx="137160" cy="7315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Spatial Relationships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364992"/>
            <a:ext cx="2743200" cy="2743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GPT-Image-1 Mini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6499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GPT-Image-1 Mini 94% decisive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69080"/>
            <a:ext cx="1152144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069080"/>
            <a:ext cx="137160" cy="7315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Object Counting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4142232"/>
            <a:ext cx="2743200" cy="274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4142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Imagen 4 wins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14223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Imagen 4 65% decisive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46320"/>
            <a:ext cx="1152144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846320"/>
            <a:ext cx="137160" cy="7315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Attribute Binding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919472"/>
            <a:ext cx="2743200" cy="274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46120" y="4919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Imagen 4 wins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919472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Imagen 4 69%  vs  GPT 31%  decisive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833872"/>
            <a:ext cx="11521440" cy="685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" y="5833872"/>
            <a:ext cx="137160" cy="685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8704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VLM judge caveat: Qwen2-VL-2B showed a ceiling effect — near-zero discriminative power at this scale. Most reliable signals: human preference and OCR.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FF"/>
                </a:solidFill>
                <a:latin typeface="Calibri"/>
              </a:rPr>
              <a:t>What was harder, easier, and more surprising than expected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201168" cy="16642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11556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79576"/>
            <a:ext cx="2926080" cy="320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9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Harder than expected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17957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VLM Faithfulness Judging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72768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Qwen2-VL-2B scored nearly every image identically — a ceiling effect at this model scale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Near-zero discriminative signal made VLM scores unreliable as a primary metric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Fix: upgrade to a 7B+ model; at 2B, the model lacks the capacity to differentiate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852928"/>
            <a:ext cx="201168" cy="166420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285292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916936"/>
            <a:ext cx="2926080" cy="3200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9169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Easier than 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1693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Human Annotation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10128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Blind pairwise ranking UI (Streamlit) with Google Sheets sync worked immediately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Annotators could vote from any device; results synced in real time with no conflicts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Auto-advance and resume features made the annotation session feel fast and focused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90288"/>
            <a:ext cx="201168" cy="166420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1168" y="459028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4654296"/>
            <a:ext cx="2926080" cy="3200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46542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More surprising than expected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5429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Model Parity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047488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Models are far more similar overall than anticipated — ~1/3 of comparisons tie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Meaningful differences only emerge when broken down by category, not globally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Suggests both APIs have converged on similar quality for general compositional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C6BC0"/>
                </a:solidFill>
                <a:latin typeface="Calibri"/>
              </a:rPr>
              <a:t>The VLM ceiling effect was the most impactful unexpected finding — it limits automated evaluation without a model upgrade.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FF"/>
                </a:solidFill>
                <a:latin typeface="Calibri"/>
              </a:rPr>
              <a:t>Three concrete next steps before a final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201168" cy="166420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1168" y="111556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7957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Calibri"/>
              </a:rPr>
              <a:t>More Annotators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207008"/>
            <a:ext cx="3200400" cy="32004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207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Statistical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91056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Currently only one annotator — need multiple for inter-rater reliability measures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More votes tighten confidence intervals and surface category-level significance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852928"/>
            <a:ext cx="201168" cy="16642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" y="285292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91693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Calibri"/>
              </a:rPr>
              <a:t>Upgrade the VLM Judge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944368"/>
            <a:ext cx="3200400" cy="320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2944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2B → 7B+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28416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Replace Qwen2-VL-2B with a 7B+ model to eliminate the ceiling effect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Larger judge should produce differentiated faithfulness scores per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90288"/>
            <a:ext cx="201168" cy="1664208"/>
          </a:xfrm>
          <a:prstGeom prst="rect">
            <a:avLst/>
          </a:prstGeom>
          <a:solidFill>
            <a:srgbClr val="FF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1168" y="4590288"/>
            <a:ext cx="11987784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465429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Calibri"/>
              </a:rPr>
              <a:t>Expand the Prompt Suite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681728"/>
            <a:ext cx="3200400" cy="320040"/>
          </a:xfrm>
          <a:prstGeom prst="rect">
            <a:avLst/>
          </a:prstGeom>
          <a:solidFill>
            <a:srgbClr val="FF5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4681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More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065776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Add prompts per category and explore new categories: negation, ordinal relations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  •  Possible: extend to additional T2I models using the provider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7878"/>
                </a:solidFill>
                <a:latin typeface="Calibri"/>
              </a:rPr>
              <a:t>The pipeline is complete — remaining work is about scale and evaluation quality, not new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BB296-92F1-4B23-8BF1-F7DEB30D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2E17A0-6338-8CEE-BD07-B570108F6BF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4CA62-A4B2-8D92-3F88-BBD360E6FF2B}"/>
              </a:ext>
            </a:extLst>
          </p:cNvPr>
          <p:cNvSpPr txBox="1"/>
          <p:nvPr/>
        </p:nvSpPr>
        <p:spPr>
          <a:xfrm>
            <a:off x="548640" y="502920"/>
            <a:ext cx="11064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Calibri"/>
              </a:rPr>
              <a:t>Website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0A8B4-850D-5D33-01DD-CA8EEF7F501C}"/>
              </a:ext>
            </a:extLst>
          </p:cNvPr>
          <p:cNvSpPr txBox="1"/>
          <p:nvPr/>
        </p:nvSpPr>
        <p:spPr>
          <a:xfrm>
            <a:off x="575945" y="1118473"/>
            <a:ext cx="11064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FFFFFF"/>
                </a:solidFill>
              </a:rPr>
              <a:t>https://text-to-image-generation-benchmark.streamlit.app/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F53D08-CDCF-1D8D-F139-0C700061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940" y="2068830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4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7043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[1] Google DeepMind. (2025). Imagen 4 Model Card. https://storage.googleapis.com/deepmind-media/Model-Cards/Imagen-4-Model-Card.pdf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[2] OpenAI. (2024). GPT Image 1 Model Documentation. https://developers.openai.com/api/docs/models/gpt-image-1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8716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[3] Huang, K., Sun, K., Du, E., Gao, M., Liang, X., &amp; Chen, W. (2023). T2I-CompBench: A Comprehensive Benchmark for Open-world Compositional Text-to-Image Generation. NeurIPS 2023. arXiv:2307.06350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45536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[4] Saharia, C., Chan, W., Saxena, S., Li, L., Whang, J., Denton, E., ... &amp; Norouzi, M. (2022). Photorealistic Text-to-Image Diffusion Models with Deep Language Understanding (Imagen). NeurIPS 2022. https://imagen.research.google/paper.pdf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03904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[5] Liu, F., Liu, K., He, X., Peng, Y., &amp; Baldwin, T. (2023). Character-Aware Models Improve Visual Text Rendering (DrawText). ACL 2023. https://aclanthology.org/2023.acl-long.900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62272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[6] Dras, M. (2015). Evaluating Human Pairwise Preference Judgments. Computational Linguistics, 41(2). https://aclanthology.org/J15-2005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206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[7] Wang, P., Bai, S., Tan, S., Wang, S., Fan, Z., Bai, J., ... &amp; Zhou, J. (2024). Qwen2-VL: Enhancing Vision-Language Model's Perception of the World at Any Resolution. arXiv:2409.12191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79008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[8] Smith, R. (2007). An Overview of the Tesseract OCR Engine. ICDAR 2007. https://tesseract-ocr.github.io/docs/tesseracticdar2007.pdf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1405</Words>
  <Application>Microsoft Office PowerPoint</Application>
  <PresentationFormat>Custom</PresentationFormat>
  <Paragraphs>110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Puthypor Sengkeo</cp:lastModifiedBy>
  <cp:revision>17</cp:revision>
  <dcterms:created xsi:type="dcterms:W3CDTF">2013-01-27T09:14:16Z</dcterms:created>
  <dcterms:modified xsi:type="dcterms:W3CDTF">2026-03-01T18:39:38Z</dcterms:modified>
  <cp:category/>
</cp:coreProperties>
</file>